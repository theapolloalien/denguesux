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B8C2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2012</c:v>
                  </c:pt>
                  <c:pt idx="1">
                    <c:v>2013</c:v>
                  </c:pt>
                  <c:pt idx="2">
                    <c:v>2014</c:v>
                  </c:pt>
                  <c:pt idx="3">
                    <c:v>2015</c:v>
                  </c:pt>
                  <c:pt idx="4">
                    <c:v>2016</c:v>
                  </c:pt>
                  <c:pt idx="5">
                    <c:v>2017</c:v>
                  </c:pt>
                  <c:pt idx="6">
                    <c:v>2018</c:v>
                  </c:pt>
                  <c:pt idx="7">
                    <c:v>2019</c:v>
                  </c:pt>
                  <c:pt idx="8">
                    <c:v>2020</c:v>
                  </c:pt>
                  <c:pt idx="9">
                    <c:v>2021</c:v>
                  </c:pt>
                  <c:pt idx="10">
                    <c:v>2022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4632</c:v>
                </c:pt>
                <c:pt idx="1">
                  <c:v>22194</c:v>
                </c:pt>
                <c:pt idx="2">
                  <c:v>18326</c:v>
                </c:pt>
                <c:pt idx="3">
                  <c:v>11303</c:v>
                </c:pt>
                <c:pt idx="4">
                  <c:v>13179</c:v>
                </c:pt>
                <c:pt idx="5">
                  <c:v>2776</c:v>
                </c:pt>
                <c:pt idx="6">
                  <c:v>3285</c:v>
                </c:pt>
                <c:pt idx="7">
                  <c:v>15998</c:v>
                </c:pt>
                <c:pt idx="8">
                  <c:v>0</c:v>
                </c:pt>
                <c:pt idx="9">
                  <c:v>5264</c:v>
                </c:pt>
                <c:pt idx="1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Outbreak year</c:v>
                </c:pt>
              </c:strCache>
            </c:strRef>
          </c:tx>
          <c:spPr>
            <a:solidFill>
              <a:srgbClr val="FF36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2012</c:v>
                  </c:pt>
                  <c:pt idx="1">
                    <c:v>2013</c:v>
                  </c:pt>
                  <c:pt idx="2">
                    <c:v>2014</c:v>
                  </c:pt>
                  <c:pt idx="3">
                    <c:v>2015</c:v>
                  </c:pt>
                  <c:pt idx="4">
                    <c:v>2016</c:v>
                  </c:pt>
                  <c:pt idx="5">
                    <c:v>2017</c:v>
                  </c:pt>
                  <c:pt idx="6">
                    <c:v>2018</c:v>
                  </c:pt>
                  <c:pt idx="7">
                    <c:v>2019</c:v>
                  </c:pt>
                  <c:pt idx="8">
                    <c:v>2020</c:v>
                  </c:pt>
                  <c:pt idx="9">
                    <c:v>2021</c:v>
                  </c:pt>
                  <c:pt idx="10">
                    <c:v>2022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35315</c:v>
                </c:pt>
                <c:pt idx="9">
                  <c:v>0</c:v>
                </c:pt>
                <c:pt idx="10">
                  <c:v>32175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"/>
        </c:scaling>
        <c:delete val="0"/>
        <c:axPos val="l"/>
        <c:majorGridlines>
          <c:spPr>
            <a:ln w="6350" cap="flat">
              <a:solidFill>
                <a:srgbClr val="DDE2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why it matters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4465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DAISI Challenge Singapore 2026 · Round 1 · A2 — DengueRadar: Real-time outbreak forecasting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 </a:t>
            </a:r>
            <a:pPr indent="0" marL="0">
              <a:buNone/>
            </a:pPr>
            <a:r>
              <a:rPr lang="en-US" sz="14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DengueSUX</a:t>
            </a:r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PROBLEM STATEMENT  </a:t>
            </a:r>
            <a:pPr indent="0" marL="0">
              <a:buNone/>
            </a:pPr>
            <a:r>
              <a:rPr lang="en-US" sz="14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— DengueRadar: Real-time outbreak forecasting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945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IN ONE SENTENCE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Singapore's public view is strongest after cases are reported. DengueSUX makes earlier weather and cluster context visible while stating exactly when a current national forecast is unavailable.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AFFECTED, AND HOW BADLY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164,447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dengue cases in Singapore from 2012–2022, including a record </a:t>
            </a:r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35,315 in 2020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1,792 in a single week at the peak. Repeat infections carry a higher risk of severe dengue.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8912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NOW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Outbreaks swing more than 10× between years (2,776 cases in 2017 vs 35,315 in 2020). Weather can provide leading context, but strain changes and reporting delays matter too. We therefore show a two-week backtest, a freshness-gated live mode, and dated local signals.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2194560"/>
            <a:ext cx="4617720" cy="2788920"/>
          </a:xfrm>
          <a:prstGeom prst="roundRect">
            <a:avLst>
              <a:gd name="adj" fmla="val 2623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95160" y="23317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dengue cases, Singapore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Outbreak years highlighted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6858000" y="2834640"/>
          <a:ext cx="44348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766560" y="505663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MOH Weekly Infectious Disease Bulletin, data.gov.sg (Dengue Fever + DHF)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53949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“I've had dengue three times. The third time, I almost died.”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why we're building this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6144768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 </a:t>
            </a:r>
            <a:pPr indent="0" marL="0">
              <a:buNone/>
            </a:pPr>
            <a:r>
              <a:rPr lang="en-US" sz="9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[Full name] · [Institution] · [Course] · Year [X] · [email]      [Full name] · [Institution] · [Course] · Year [X] · [email]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&amp; data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4465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DAISI Challenge Singapore 2026 · Round 1 · A2 — DengueRadar: Real-time outbreak forecasting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916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 IN ONE SENTENCE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DengueSUX turns open data into a weekly plan: </a:t>
            </a:r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areas to check first, which blocks to walk, and what to tell residents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backed by a 2-week national forecast tested on the 2022 outbreak.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USES IT, AND WHAT DECISION IT CHANGES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Town council officers and grassroots volunteers decide </a:t>
            </a:r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inspect this week and in what order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starting from 8 ranked stops instead of a whole estate. Residents get a notice in their own language.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IT DIFFERENT FROM A GENERIC DASHBOARD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33672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Street-level inspection plan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cluster blocks → 8 places to check on a 1.2 km OneMap walking route.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41605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21608" y="4233672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on a real outbreak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2× more accurate than a simple average on 2022; turned High 11 weeks before the peak.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5120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193792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every number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drivers and a dated source on every figure. Places to check, never “breeding sites found”.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11880" y="5120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21608" y="5193792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Speaks residents' languages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Notices in English, 中文, Melayu and தமிழ், each passing 5 automatic fact checks.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0" y="1691640"/>
            <a:ext cx="4709160" cy="4343400"/>
          </a:xfrm>
          <a:prstGeom prst="roundRect">
            <a:avLst>
              <a:gd name="adj" fmla="val 1684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85623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 (ALL OPEN AND PUBLIC)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2221992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2221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296912" y="219456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Infectious Disease Bulletin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 · 574 weeks of dengue cases, 2012–2022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2624328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2624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7296912" y="25968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Rainfall, temperature &amp; humidity archives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 · 125M station readings, 2017–2022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03720" y="3026664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03720" y="3026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299923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weather APIs (V2)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 · live station readings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03720" y="3429000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037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7296912" y="3401568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Dengue Clusters (GeoJSON)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 · live; archived daily since 24 Sep 2026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3831336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3831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296912" y="38039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Plan 2025 Planning Areas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URA · 55 areas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03720" y="4233672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03720" y="4233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296912" y="42062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HDB Property Information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HDB · matches cluster block addresses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903720" y="4636008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03720" y="4636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296912" y="460857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Parks · Hawker Centres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NParks, NEA · candidate places to check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903720" y="5038344"/>
            <a:ext cx="256032" cy="256032"/>
          </a:xfrm>
          <a:prstGeom prst="ellipse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03720" y="5038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296912" y="501091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OneMap Search &amp; Routing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· block locations and walking routes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903720" y="545896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</a:t>
            </a:r>
            <a:pPr indent="0" marL="0"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case data ends in 2022, so the forecast replays 2022 until recent weekly counts are approved. Area ranks are priorities, not local case predictions.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FF3621"/>
          </a:solidFill>
          <a:ln w="12700">
            <a:solidFill>
              <a:srgbClr val="FF36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architecture &amp; impact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4465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DAISI Challenge Singapore 2026 · Round 1 · A2 — DengueRadar: Real-time outbreak forecasting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1947672" cy="1280160"/>
          </a:xfrm>
          <a:prstGeom prst="roundRect">
            <a:avLst>
              <a:gd name="adj" fmla="val 5714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1755648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data.gov.sg + OneMap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Bulletin, weather, clusters, URA, HDB, parks, hawkers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752344" y="210312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76372" y="1645920"/>
            <a:ext cx="1947672" cy="1280160"/>
          </a:xfrm>
          <a:prstGeom prst="roundRect">
            <a:avLst>
              <a:gd name="adj" fmla="val 5714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5244" y="1755648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Delta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Checksummed raw files; daily cluster snapshot job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905756" y="210312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9784" y="1645920"/>
            <a:ext cx="1947672" cy="1280160"/>
          </a:xfrm>
          <a:prstGeom prst="roundRect">
            <a:avLst>
              <a:gd name="adj" fmla="val 5714"/>
            </a:avLst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48656" y="1755648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PySpark → Delta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Sun–Sat epi-weeks, 55-area panel, cluster → block → place joins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059168" y="210312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283196" y="1645920"/>
            <a:ext cx="1947672" cy="1280160"/>
          </a:xfrm>
          <a:prstGeom prst="roundRect">
            <a:avLst>
              <a:gd name="adj" fmla="val 5714"/>
            </a:avLst>
          </a:prstGeom>
          <a:solidFill>
            <a:srgbClr val="1B3139"/>
          </a:solidFill>
          <a:ln w="12700">
            <a:solidFill>
              <a:srgbClr val="1B31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2068" y="1755648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D5DC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models, 39 folds (2019–21); gradient boosting won; SHAP drivers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9212580" y="210312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436608" y="1645920"/>
            <a:ext cx="1947672" cy="1280160"/>
          </a:xfrm>
          <a:prstGeom prst="roundRect">
            <a:avLst>
              <a:gd name="adj" fmla="val 5714"/>
            </a:avLst>
          </a:prstGeom>
          <a:solidFill>
            <a:srgbClr val="1B3139"/>
          </a:solidFill>
          <a:ln w="12700">
            <a:solidFill>
              <a:srgbClr val="1B31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55480" y="1755648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+ Genie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D5DC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Map, inspection routes, 4-language notices via Foundation Model API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017520"/>
            <a:ext cx="10561320" cy="365760"/>
          </a:xfrm>
          <a:prstGeom prst="roundRect">
            <a:avLst>
              <a:gd name="adj" fmla="val 15000"/>
            </a:avLst>
          </a:prstGeom>
          <a:solidFill>
            <a:srgbClr val="FFF4F2"/>
          </a:solidFill>
          <a:ln w="12700">
            <a:solidFill>
              <a:srgbClr val="FFF4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3017520"/>
            <a:ext cx="10195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  </a:t>
            </a:r>
            <a:pPr indent="0" marL="0">
              <a:buNone/>
            </a:pPr>
            <a:r>
              <a:rPr lang="en-US" sz="1100" dirty="0">
                <a:solidFill>
                  <a:srgbClr val="1B31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 every table: source receipts and checksums, lineage from raw file to forecast and route, access controls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566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WILL DEMO</a:t>
            </a:r>
            <a:endParaRPr lang="en-US" sz="1100" dirty="0"/>
          </a:p>
        </p:txBody>
      </p:sp>
      <p:pic>
        <p:nvPicPr>
          <p:cNvPr id="23" name="Image 0" descr="slide3_insp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886200"/>
            <a:ext cx="3383280" cy="18796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" y="5829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working: 8 places to check on a 1.2 km walking route around the largest cluster (real NEA, HDB, OneMap data).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411980" y="3566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IMPACT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411980" y="3886200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off by ~83 people a week vs ~172 for a simple average: 52% lower error on the 2022 outbreak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Turned High 11 weeks before the 2022 peak, 1 week earlier than the simple average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start with 8 ranked stops instead of a whole estate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 ready-to-review resident notices: 55 areas × 4 languages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3566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CAN FINISH IN TWO WEEKS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3886200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6 notebooks and daily job on Databricks Free Edition (serverless), with Unity Catalog tables and MLflow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the scripted prototype assistant with a Genie space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forecast live once recent weekly case counts are approved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on cluster-growth ranking after 7+ days of snapshots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DengueSUX — DAISI Challenge Round 1</dc:title>
  <dc:subject>PptxGenJS Presentation</dc:subject>
  <dc:creator>PptxGenJS</dc:creator>
  <cp:lastModifiedBy>PptxGenJS</cp:lastModifiedBy>
  <cp:revision>1</cp:revision>
  <dcterms:created xsi:type="dcterms:W3CDTF">2026-09-24T08:25:58Z</dcterms:created>
  <dcterms:modified xsi:type="dcterms:W3CDTF">2026-09-24T08:25:58Z</dcterms:modified>
</cp:coreProperties>
</file>